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0000" cy="720000"/>
          </a:xfrm>
          <a:prstGeom prst="rect">
            <a:avLst/>
          </a:prstGeom>
          <a:solidFill>
            <a:srgbClr val="20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mb_ib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126000"/>
            <a:ext cx="1008000" cy="46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96000" y="54000"/>
            <a:ext cx="46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C8A96D"/>
                </a:solidFill>
                <a:latin typeface="Calibri"/>
              </a:rPr>
              <a:t>Fasano Mamucabo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FFFFFF"/>
                </a:solidFill>
                <a:latin typeface="Calibri"/>
              </a:rPr>
              <a:t>Branded Residences &amp; Hotel · Overview de Investimento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0000" y="108000"/>
            <a:ext cx="180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</a:pPr>
            <a:r>
              <a:rPr sz="600" b="1">
                <a:solidFill>
                  <a:srgbClr val="C8A96D"/>
                </a:solidFill>
                <a:latin typeface="Calibri"/>
              </a:rPr>
              <a:t>CONFIDENCIAL</a:t>
            </a:r>
          </a:p>
          <a:p>
            <a:pPr algn="r"/>
            <a:r>
              <a:rPr sz="600">
                <a:solidFill>
                  <a:srgbClr val="7F808F"/>
                </a:solidFill>
                <a:latin typeface="Calibri"/>
              </a:rPr>
              <a:t>Março 2026</a:t>
            </a:r>
          </a:p>
        </p:txBody>
      </p:sp>
      <p:pic>
        <p:nvPicPr>
          <p:cNvPr id="7" name="Picture 6" descr="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0000"/>
            <a:ext cx="7560000" cy="115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720000"/>
            <a:ext cx="4140000" cy="1152000"/>
          </a:xfrm>
          <a:prstGeom prst="rect">
            <a:avLst/>
          </a:prstGeom>
          <a:solidFill>
            <a:srgbClr val="141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828000"/>
            <a:ext cx="3888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C8A96D"/>
                </a:solidFill>
                <a:latin typeface="Calibri"/>
              </a:rPr>
              <a:t>Litoral Norte da Bahia · Costa dos Coqueiros · 108 km de Salvador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O maior destino turístico-imobiliário de luxo do Brasil</a:t>
            </a:r>
          </a:p>
          <a:p>
            <a:pPr>
              <a:spcBef>
                <a:spcPts val="300"/>
              </a:spcBef>
            </a:pPr>
            <a:r>
              <a:rPr sz="550">
                <a:solidFill>
                  <a:srgbClr val="E8E8F0"/>
                </a:solidFill>
                <a:latin typeface="Calibri"/>
              </a:rPr>
              <a:t>Complexo Fasano · Mamucabo · Esplanada, BA · Licença de Instalação Emitida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76000" y="1548000"/>
            <a:ext cx="1044000" cy="252000"/>
          </a:xfrm>
          <a:prstGeom prst="rect">
            <a:avLst/>
          </a:prstGeom>
          <a:solidFill>
            <a:srgbClr val="201A47"/>
          </a:solidFill>
          <a:ln w="6350">
            <a:solidFill>
              <a:srgbClr val="C8A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2000" y="1584000"/>
            <a:ext cx="97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>
                <a:solidFill>
                  <a:srgbClr val="C8A96D"/>
                </a:solidFill>
                <a:latin typeface="Calibri"/>
              </a:rPr>
              <a:t>IPCA + 12,5% a.a.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0" y="1548000"/>
            <a:ext cx="1044000" cy="252000"/>
          </a:xfrm>
          <a:prstGeom prst="rect">
            <a:avLst/>
          </a:prstGeom>
          <a:solidFill>
            <a:srgbClr val="201A47"/>
          </a:solidFill>
          <a:ln w="6350">
            <a:solidFill>
              <a:srgbClr val="C8A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8000" y="1584000"/>
            <a:ext cx="97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>
                <a:solidFill>
                  <a:srgbClr val="C8A96D"/>
                </a:solidFill>
                <a:latin typeface="Calibri"/>
              </a:rPr>
              <a:t>TIR 30,9%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8000" y="1548000"/>
            <a:ext cx="1044000" cy="252000"/>
          </a:xfrm>
          <a:prstGeom prst="rect">
            <a:avLst/>
          </a:prstGeom>
          <a:solidFill>
            <a:srgbClr val="201A47"/>
          </a:solidFill>
          <a:ln w="6350">
            <a:solidFill>
              <a:srgbClr val="C8A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4000" y="1584000"/>
            <a:ext cx="97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>
                <a:solidFill>
                  <a:srgbClr val="C8A96D"/>
                </a:solidFill>
                <a:latin typeface="Calibri"/>
              </a:rPr>
              <a:t>LI Emitida Jan/2024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872000"/>
            <a:ext cx="7560000" cy="504000"/>
          </a:xfrm>
          <a:prstGeom prst="rect">
            <a:avLst/>
          </a:prstGeom>
          <a:solidFill>
            <a:srgbClr val="18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" y="1926000"/>
            <a:ext cx="1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R$411,6MM</a:t>
            </a:r>
          </a:p>
          <a:p>
            <a:pPr algn="ctr"/>
            <a:r>
              <a:rPr sz="500">
                <a:solidFill>
                  <a:srgbClr val="E8E8F0"/>
                </a:solidFill>
                <a:latin typeface="Calibri"/>
              </a:rPr>
              <a:t>VGV Total Residencial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06600" y="1944000"/>
            <a:ext cx="10800" cy="3600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48000" y="1926000"/>
            <a:ext cx="1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R$170MM</a:t>
            </a:r>
          </a:p>
          <a:p>
            <a:pPr algn="ctr"/>
            <a:r>
              <a:rPr sz="500">
                <a:solidFill>
                  <a:srgbClr val="E8E8F0"/>
                </a:solidFill>
                <a:latin typeface="Calibri"/>
              </a:rPr>
              <a:t>Volume CRI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8600" y="1944000"/>
            <a:ext cx="10800" cy="3600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0000" y="1926000"/>
            <a:ext cx="1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96D"/>
                </a:solidFill>
                <a:latin typeface="Calibri"/>
              </a:rPr>
              <a:t>30,9%</a:t>
            </a:r>
          </a:p>
          <a:p>
            <a:pPr algn="ctr"/>
            <a:r>
              <a:rPr sz="500">
                <a:solidFill>
                  <a:srgbClr val="E8E8F0"/>
                </a:solidFill>
                <a:latin typeface="Calibri"/>
              </a:rPr>
              <a:t>TIR Equity (49%)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0600" y="1944000"/>
            <a:ext cx="10800" cy="3600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1926000"/>
            <a:ext cx="1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48</a:t>
            </a:r>
          </a:p>
          <a:p>
            <a:pPr algn="ctr"/>
            <a:r>
              <a:rPr sz="500">
                <a:solidFill>
                  <a:srgbClr val="E8E8F0"/>
                </a:solidFill>
                <a:latin typeface="Calibri"/>
              </a:rPr>
              <a:t>Unidades Residenciais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42600" y="1944000"/>
            <a:ext cx="10800" cy="3600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4000" y="1926000"/>
            <a:ext cx="1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40</a:t>
            </a:r>
          </a:p>
          <a:p>
            <a:pPr algn="ctr"/>
            <a:r>
              <a:rPr sz="500">
                <a:solidFill>
                  <a:srgbClr val="E8E8F0"/>
                </a:solidFill>
                <a:latin typeface="Calibri"/>
              </a:rPr>
              <a:t>Unidades Hoteleiras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2376000"/>
            <a:ext cx="7560000" cy="396000"/>
          </a:xfrm>
          <a:prstGeom prst="rect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0000" y="2556000"/>
            <a:ext cx="7200000" cy="144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3200" y="2512800"/>
            <a:ext cx="93600" cy="936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Out/2026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Lançamento Res. F1
Início Obras Hotel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3200" y="2512800"/>
            <a:ext cx="93600" cy="936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2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Abr/2027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Início Obras
Residencial F1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3200" y="2512800"/>
            <a:ext cx="93600" cy="936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Jan/2028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Lançamento
Residencial F2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33200" y="2512800"/>
            <a:ext cx="93600" cy="93600"/>
          </a:xfrm>
          <a:prstGeom prst="rect">
            <a:avLst/>
          </a:prstGeom>
          <a:solidFill>
            <a:srgbClr val="20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Jan/2029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4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Abertura
Hotel Fasano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13200" y="2512800"/>
            <a:ext cx="93600" cy="936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Ago/2029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Entrega Res. F1
Pós-Chaves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3200" y="2512800"/>
            <a:ext cx="93600" cy="936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Jun/2030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0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Entrega Res. F2
Full Cash Sweep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73200" y="2512800"/>
            <a:ext cx="93600" cy="93600"/>
          </a:xfrm>
          <a:prstGeom prst="rect">
            <a:avLst/>
          </a:prstGeom>
          <a:solidFill>
            <a:srgbClr val="20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4000" y="2394000"/>
            <a:ext cx="792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1">
                <a:solidFill>
                  <a:srgbClr val="201A47"/>
                </a:solidFill>
                <a:latin typeface="Calibri"/>
              </a:rPr>
              <a:t>Ago/2031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8000" y="2610000"/>
            <a:ext cx="86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Encerramento
Operação Dívida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2772000"/>
            <a:ext cx="7560000" cy="66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12800" y="2880000"/>
            <a:ext cx="14400" cy="6480000"/>
          </a:xfrm>
          <a:prstGeom prst="rect">
            <a:avLst/>
          </a:prstGeom>
          <a:solidFill>
            <a:srgbClr val="E8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32800" y="2880000"/>
            <a:ext cx="14400" cy="6480000"/>
          </a:xfrm>
          <a:prstGeom prst="rect">
            <a:avLst/>
          </a:prstGeom>
          <a:solidFill>
            <a:srgbClr val="E8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000" y="2844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POR QUE INVESTIR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01A47"/>
                </a:solidFill>
                <a:latin typeface="Calibri"/>
              </a:rPr>
              <a:t>Tese de Investimento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000" y="31140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000" y="3204000"/>
            <a:ext cx="2304000" cy="13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 b="1">
                <a:solidFill>
                  <a:srgbClr val="201A47"/>
                </a:solidFill>
                <a:latin typeface="Calibri"/>
              </a:rPr>
              <a:t>Marca Fasano </a:t>
            </a:r>
            <a:r>
              <a:rPr sz="600">
                <a:solidFill>
                  <a:srgbClr val="333355"/>
                </a:solidFill>
                <a:latin typeface="Calibri"/>
              </a:rPr>
              <a:t>— Parceria com grupo centenário, sinônimo de luxo e hospitalidade premium na América Latina. Contrato negociado, formalização final em curso.</a:t>
            </a:r>
          </a:p>
          <a:p>
            <a:pPr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 b="1">
                <a:solidFill>
                  <a:srgbClr val="201A47"/>
                </a:solidFill>
                <a:latin typeface="Calibri"/>
              </a:rPr>
              <a:t>Destino exclusivo e escasso </a:t>
            </a:r>
            <a:r>
              <a:rPr sz="600">
                <a:solidFill>
                  <a:srgbClr val="333355"/>
                </a:solidFill>
                <a:latin typeface="Calibri"/>
              </a:rPr>
              <a:t>— Mamucabo reservado exclusivamente para projetos AAA. 13 km de praias intocadas com baixíssima densidade.</a:t>
            </a:r>
          </a:p>
          <a:p>
            <a:pPr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 b="1">
                <a:solidFill>
                  <a:srgbClr val="201A47"/>
                </a:solidFill>
                <a:latin typeface="Calibri"/>
              </a:rPr>
              <a:t>Risco regulatório zerado </a:t>
            </a:r>
            <a:r>
              <a:rPr sz="600">
                <a:solidFill>
                  <a:srgbClr val="333355"/>
                </a:solidFill>
                <a:latin typeface="Calibri"/>
              </a:rPr>
              <a:t>— Terreno desde 2009. LP emitida 2012, LI emitida jan/2024 e Alvará concluído. Investidor ingressa na fase de execução.</a:t>
            </a:r>
          </a:p>
          <a:p>
            <a:pPr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 b="1">
                <a:solidFill>
                  <a:srgbClr val="201A47"/>
                </a:solidFill>
                <a:latin typeface="Calibri"/>
              </a:rPr>
              <a:t>Garantias robustas </a:t>
            </a:r>
            <a:r>
              <a:rPr sz="600">
                <a:solidFill>
                  <a:srgbClr val="333355"/>
                </a:solidFill>
                <a:latin typeface="Calibri"/>
              </a:rPr>
              <a:t>— AF de cotas, terrenos e recebíveis. Razão mínima de 120%. Full cash sweep pós-entrega residencial.</a:t>
            </a:r>
          </a:p>
          <a:p>
            <a:pPr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 b="1">
                <a:solidFill>
                  <a:srgbClr val="201A47"/>
                </a:solidFill>
                <a:latin typeface="Calibri"/>
              </a:rPr>
              <a:t>Track record Prima </a:t>
            </a:r>
            <a:r>
              <a:rPr sz="600">
                <a:solidFill>
                  <a:srgbClr val="333355"/>
                </a:solidFill>
                <a:latin typeface="Calibri"/>
              </a:rPr>
              <a:t>— 20 anos, R$ 1,36 BI VGV em execução, R$ 280MM receita e R$ 138MM EBITDA em 2025. Premiado ADEMI-BA.</a:t>
            </a:r>
          </a:p>
        </p:txBody>
      </p:sp>
      <p:pic>
        <p:nvPicPr>
          <p:cNvPr id="55" name="Picture 54" descr="aeri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0" y="4608000"/>
            <a:ext cx="1116000" cy="612000"/>
          </a:xfrm>
          <a:prstGeom prst="rect">
            <a:avLst/>
          </a:prstGeom>
        </p:spPr>
      </p:pic>
      <p:pic>
        <p:nvPicPr>
          <p:cNvPr id="56" name="Picture 55" descr="po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6000" y="4608000"/>
            <a:ext cx="1116000" cy="612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8000" y="5292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DESENVOLVEDOR &amp; OPERADOR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01A47"/>
                </a:solidFill>
                <a:latin typeface="Calibri"/>
              </a:rPr>
              <a:t>Grupo Prima &amp; Fasano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8000" y="55620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8800" y="5652000"/>
            <a:ext cx="746400" cy="306000"/>
          </a:xfrm>
          <a:prstGeom prst="rect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00" y="5670000"/>
            <a:ext cx="7464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201A47"/>
                </a:solidFill>
                <a:latin typeface="Calibri"/>
              </a:rPr>
              <a:t>R$280MM</a:t>
            </a:r>
          </a:p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Receita 2025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6800" y="5652000"/>
            <a:ext cx="746400" cy="306000"/>
          </a:xfrm>
          <a:prstGeom prst="rect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6800" y="5670000"/>
            <a:ext cx="7464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201A47"/>
                </a:solidFill>
                <a:latin typeface="Calibri"/>
              </a:rPr>
              <a:t>R$138MM</a:t>
            </a:r>
          </a:p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EBITDA 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54800" y="5652000"/>
            <a:ext cx="746400" cy="306000"/>
          </a:xfrm>
          <a:prstGeom prst="rect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54800" y="5670000"/>
            <a:ext cx="7464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201A47"/>
                </a:solidFill>
                <a:latin typeface="Calibri"/>
              </a:rPr>
              <a:t>R$1,36BI</a:t>
            </a:r>
          </a:p>
          <a:p>
            <a:pPr algn="ctr"/>
            <a:r>
              <a:rPr sz="450">
                <a:solidFill>
                  <a:srgbClr val="7F808F"/>
                </a:solidFill>
                <a:latin typeface="Calibri"/>
              </a:rPr>
              <a:t>VGV em Exec.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00" y="6012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333355"/>
                </a:solidFill>
                <a:latin typeface="Calibri"/>
              </a:rPr>
              <a:t>Fundado em 2005 · 6 famílias industriais espanholas · 570 colaboradores · Governança formal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333355"/>
                </a:solidFill>
                <a:latin typeface="Calibri"/>
              </a:rPr>
              <a:t>Hotel Fasano Salvador · 3 hotéis em operação · 4 em desenvolvimento em Mamucabo/Baixio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000" y="6372000"/>
            <a:ext cx="2304000" cy="10800"/>
          </a:xfrm>
          <a:prstGeom prst="rect">
            <a:avLst/>
          </a:prstGeom>
          <a:solidFill>
            <a:srgbClr val="E8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000" y="6444000"/>
            <a:ext cx="230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650" b="1">
                <a:solidFill>
                  <a:srgbClr val="201A47"/>
                </a:solidFill>
                <a:latin typeface="Calibri"/>
              </a:rPr>
              <a:t>Fasano — Desde 1902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333355"/>
                </a:solidFill>
                <a:latin typeface="Calibri"/>
              </a:rPr>
              <a:t>Marca centenária de luxo e gastronomia premium · Hotéis icônicos em SP, RJ, Punta del Este e Salvador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333355"/>
                </a:solidFill>
                <a:latin typeface="Calibri"/>
              </a:rPr>
              <a:t>Agrega prestígio internacional e forte valorização imobiliária ao complexo Mamucabo</a:t>
            </a:r>
          </a:p>
        </p:txBody>
      </p:sp>
      <p:pic>
        <p:nvPicPr>
          <p:cNvPr id="68" name="Picture 67" descr="entranc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00" y="6948000"/>
            <a:ext cx="1116000" cy="576000"/>
          </a:xfrm>
          <a:prstGeom prst="rect">
            <a:avLst/>
          </a:prstGeom>
        </p:spPr>
      </p:pic>
      <p:pic>
        <p:nvPicPr>
          <p:cNvPr id="69" name="Picture 68" descr="roo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6000" y="6948000"/>
            <a:ext cx="1116000" cy="576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2628000" y="2844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OPERAÇÃO FINANCEIRA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01A47"/>
                </a:solidFill>
                <a:latin typeface="Calibri"/>
              </a:rPr>
              <a:t>Estrutura de Investimento · CRI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28000" y="31140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628000" y="3204000"/>
            <a:ext cx="2304000" cy="136800"/>
          </a:xfrm>
          <a:prstGeom prst="rect">
            <a:avLst/>
          </a:prstGeom>
          <a:solidFill>
            <a:srgbClr val="F5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56800" y="3218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Instrumento  </a:t>
            </a:r>
            <a:r>
              <a:rPr sz="550" b="1">
                <a:solidFill>
                  <a:srgbClr val="221A50"/>
                </a:solidFill>
                <a:latin typeface="Calibri"/>
              </a:rPr>
              <a:t>CRI · Oferta pública (Res. CVM 160/22)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8000" y="3348000"/>
            <a:ext cx="2304000" cy="13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656800" y="3362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Volume  </a:t>
            </a:r>
            <a:r>
              <a:rPr sz="550" b="1">
                <a:solidFill>
                  <a:srgbClr val="221A50"/>
                </a:solidFill>
                <a:latin typeface="Calibri"/>
              </a:rPr>
              <a:t>R$ 170MM · 5 integralizações semestrais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28000" y="3492000"/>
            <a:ext cx="2304000" cy="136800"/>
          </a:xfrm>
          <a:prstGeom prst="rect">
            <a:avLst/>
          </a:prstGeom>
          <a:solidFill>
            <a:srgbClr val="F5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56800" y="3506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Devedoras  </a:t>
            </a:r>
            <a:r>
              <a:rPr sz="550" b="1">
                <a:solidFill>
                  <a:srgbClr val="221A50"/>
                </a:solidFill>
                <a:latin typeface="Calibri"/>
              </a:rPr>
              <a:t>FAS Mamucabo Hotelaria + Empreendimentos Ltda.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28000" y="3636000"/>
            <a:ext cx="2304000" cy="13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56800" y="3650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Remuneração  </a:t>
            </a:r>
            <a:r>
              <a:rPr sz="550" b="1">
                <a:solidFill>
                  <a:srgbClr val="201A47"/>
                </a:solidFill>
                <a:latin typeface="Calibri"/>
              </a:rPr>
              <a:t>IPCA + 12,5% a.a.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28000" y="3780000"/>
            <a:ext cx="2304000" cy="136800"/>
          </a:xfrm>
          <a:prstGeom prst="rect">
            <a:avLst/>
          </a:prstGeom>
          <a:solidFill>
            <a:srgbClr val="F5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56800" y="3794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Juros  </a:t>
            </a:r>
            <a:r>
              <a:rPr sz="550" b="1">
                <a:solidFill>
                  <a:srgbClr val="221A50"/>
                </a:solidFill>
                <a:latin typeface="Calibri"/>
              </a:rPr>
              <a:t>Mensal, sem carência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28000" y="3924000"/>
            <a:ext cx="2304000" cy="13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656800" y="3938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Prazo  </a:t>
            </a:r>
            <a:r>
              <a:rPr sz="550" b="1">
                <a:solidFill>
                  <a:srgbClr val="221A50"/>
                </a:solidFill>
                <a:latin typeface="Calibri"/>
              </a:rPr>
              <a:t>Até 84 meses (ou 12m após entrega)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8000" y="4068000"/>
            <a:ext cx="2304000" cy="136800"/>
          </a:xfrm>
          <a:prstGeom prst="rect">
            <a:avLst/>
          </a:prstGeom>
          <a:solidFill>
            <a:srgbClr val="F5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656800" y="4082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Amortização  </a:t>
            </a:r>
            <a:r>
              <a:rPr sz="550" b="1">
                <a:solidFill>
                  <a:srgbClr val="221A50"/>
                </a:solidFill>
                <a:latin typeface="Calibri"/>
              </a:rPr>
              <a:t>Full cash sweep pós-entrega Residencial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28000" y="4212000"/>
            <a:ext cx="2304000" cy="13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56800" y="4226400"/>
            <a:ext cx="2250000" cy="12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50">
                <a:solidFill>
                  <a:srgbClr val="7F808F"/>
                </a:solidFill>
                <a:latin typeface="Calibri"/>
              </a:rPr>
              <a:t>Duration  </a:t>
            </a:r>
            <a:r>
              <a:rPr sz="550" b="1">
                <a:solidFill>
                  <a:srgbClr val="221A50"/>
                </a:solidFill>
                <a:latin typeface="Calibri"/>
              </a:rPr>
              <a:t>3,06 anos · Cobertura mínima 120%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28000" y="4410000"/>
            <a:ext cx="2304000" cy="360000"/>
          </a:xfrm>
          <a:prstGeom prst="rect">
            <a:avLst/>
          </a:prstGeom>
          <a:solidFill>
            <a:srgbClr val="20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664000" y="4428000"/>
            <a:ext cx="2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8A96D"/>
                </a:solidFill>
                <a:latin typeface="Calibri"/>
              </a:rPr>
              <a:t>30,9% a.a.</a:t>
            </a:r>
          </a:p>
          <a:p>
            <a:r>
              <a:rPr sz="550">
                <a:solidFill>
                  <a:srgbClr val="FFFFFF"/>
                </a:solidFill>
                <a:latin typeface="Calibri"/>
              </a:rPr>
              <a:t>TIR Equity — Investidor (49%) · Prazo 2026–2038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628000" y="4842000"/>
            <a:ext cx="1116000" cy="4320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664000" y="4860000"/>
            <a:ext cx="1044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49%</a:t>
            </a:r>
          </a:p>
          <a:p>
            <a:pPr algn="ctr"/>
            <a:r>
              <a:rPr sz="550">
                <a:solidFill>
                  <a:srgbClr val="FFFFFF"/>
                </a:solidFill>
                <a:latin typeface="Calibri"/>
              </a:rPr>
              <a:t>Investidor</a:t>
            </a:r>
          </a:p>
          <a:p>
            <a:pPr algn="ctr"/>
            <a:r>
              <a:rPr sz="550">
                <a:solidFill>
                  <a:srgbClr val="C8A96D"/>
                </a:solidFill>
                <a:latin typeface="Calibri"/>
              </a:rPr>
              <a:t>R$ 44,2MM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816000" y="4842000"/>
            <a:ext cx="1116000" cy="432000"/>
          </a:xfrm>
          <a:prstGeom prst="rect">
            <a:avLst/>
          </a:prstGeom>
          <a:solidFill>
            <a:srgbClr val="443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52000" y="4860000"/>
            <a:ext cx="1044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51%</a:t>
            </a:r>
          </a:p>
          <a:p>
            <a:pPr algn="ctr"/>
            <a:r>
              <a:rPr sz="550">
                <a:solidFill>
                  <a:srgbClr val="FFFFFF"/>
                </a:solidFill>
                <a:latin typeface="Calibri"/>
              </a:rPr>
              <a:t>Grupo Prima</a:t>
            </a:r>
          </a:p>
          <a:p>
            <a:pPr algn="ctr"/>
            <a:r>
              <a:rPr sz="550">
                <a:solidFill>
                  <a:srgbClr val="C8A96D"/>
                </a:solidFill>
                <a:latin typeface="Calibri"/>
              </a:rPr>
              <a:t>R$ 46,0MM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28000" y="5346000"/>
            <a:ext cx="230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00">
                <a:solidFill>
                  <a:srgbClr val="7F808F"/>
                </a:solidFill>
                <a:latin typeface="Calibri"/>
              </a:rPr>
              <a:t>Equity total R$ 90,2MM. R$ 32,9MM já investidos pelo Prima (terreno + licenças + projetos).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8000" y="5598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LOCALIZAÇÃO &amp; DESTINO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01A47"/>
                </a:solidFill>
                <a:latin typeface="Calibri"/>
              </a:rPr>
              <a:t>Mamucabo · Destino AAA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28000" y="58680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28000" y="5958000"/>
            <a:ext cx="2304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 b="1">
                <a:solidFill>
                  <a:srgbClr val="201A47"/>
                </a:solidFill>
                <a:latin typeface="Calibri"/>
              </a:rPr>
              <a:t>Esplanada, BA</a:t>
            </a:r>
            <a:r>
              <a:rPr sz="600">
                <a:solidFill>
                  <a:srgbClr val="333355"/>
                </a:solidFill>
                <a:latin typeface="Calibri"/>
              </a:rPr>
              <a:t> · 108 km de Salvador · 13 km de praias intocadas · Ecossistemas de lagoas e mata nativa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333355"/>
                </a:solidFill>
                <a:latin typeface="Calibri"/>
              </a:rPr>
              <a:t>Área licenciada: +63MM m² · Comercializável: +25MM m² · Pista de pouso, heliponto e utilities completas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628000" y="6318000"/>
            <a:ext cx="2304000" cy="10800"/>
          </a:xfrm>
          <a:prstGeom prst="rect">
            <a:avLst/>
          </a:prstGeom>
          <a:solidFill>
            <a:srgbClr val="E8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628000" y="6390000"/>
            <a:ext cx="230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650" b="1">
                <a:solidFill>
                  <a:srgbClr val="201A47"/>
                </a:solidFill>
                <a:latin typeface="Calibri"/>
              </a:rPr>
              <a:t>Branded Residences · 48 Unidades · VGV R$ 411,6MM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628000" y="6606000"/>
            <a:ext cx="1116000" cy="324000"/>
          </a:xfrm>
          <a:prstGeom prst="rect">
            <a:avLst/>
          </a:prstGeom>
          <a:solidFill>
            <a:srgbClr val="F5E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646000" y="6624000"/>
            <a:ext cx="1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201A47"/>
                </a:solidFill>
                <a:latin typeface="Calibri"/>
              </a:rPr>
              <a:t>F1 · 22 unid.</a:t>
            </a:r>
          </a:p>
          <a:p>
            <a:pPr algn="ctr"/>
            <a:r>
              <a:rPr sz="500">
                <a:solidFill>
                  <a:srgbClr val="7F808F"/>
                </a:solidFill>
                <a:latin typeface="Calibri"/>
              </a:rPr>
              <a:t>R$ 156MM · Out/2026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16000" y="6606000"/>
            <a:ext cx="1116000" cy="324000"/>
          </a:xfrm>
          <a:prstGeom prst="rect">
            <a:avLst/>
          </a:prstGeom>
          <a:solidFill>
            <a:srgbClr val="F5E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34000" y="6624000"/>
            <a:ext cx="1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201A47"/>
                </a:solidFill>
                <a:latin typeface="Calibri"/>
              </a:rPr>
              <a:t>F2 · 26 unid.</a:t>
            </a:r>
          </a:p>
          <a:p>
            <a:pPr algn="ctr"/>
            <a:r>
              <a:rPr sz="500">
                <a:solidFill>
                  <a:srgbClr val="7F808F"/>
                </a:solidFill>
                <a:latin typeface="Calibri"/>
              </a:rPr>
              <a:t>R$ 285MM · Jan/2028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28000" y="7002000"/>
            <a:ext cx="230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500">
                <a:solidFill>
                  <a:srgbClr val="7F808F"/>
                </a:solidFill>
                <a:latin typeface="Calibri"/>
              </a:rPr>
              <a:t>15+10 Casas Rental Pool · 17 Lotes 2.200m² · 16 Lotes 2.500m² · Terreno 260.350m²</a:t>
            </a:r>
          </a:p>
        </p:txBody>
      </p:sp>
      <p:pic>
        <p:nvPicPr>
          <p:cNvPr id="105" name="Picture 104" descr="vill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000" y="7254000"/>
            <a:ext cx="1116000" cy="576000"/>
          </a:xfrm>
          <a:prstGeom prst="rect">
            <a:avLst/>
          </a:prstGeom>
        </p:spPr>
      </p:pic>
      <p:pic>
        <p:nvPicPr>
          <p:cNvPr id="106" name="Picture 105" descr="lobby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7254000"/>
            <a:ext cx="1116000" cy="57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040000" y="2772000"/>
            <a:ext cx="2520000" cy="6696000"/>
          </a:xfrm>
          <a:prstGeom prst="rect">
            <a:avLst/>
          </a:prstGeom>
          <a:solidFill>
            <a:srgbClr val="20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148000" y="2844000"/>
            <a:ext cx="230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GARANTIAS CRI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48000" y="29952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148000" y="3060000"/>
            <a:ext cx="2304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AF de 100% das cotas das Devedoras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AF terreno Residencial (260.350m²) c/ conversão para AF de unidades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AF terreno Hoteleiro (306.017m²)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Cessão fiduciária de recebíveis do Residencial e das receitas hoteleiras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Aval cruzado das holdings e subholdings do Grupo Prima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48000" y="4032000"/>
            <a:ext cx="2304000" cy="108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148000" y="4104000"/>
            <a:ext cx="230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MARCOS CONCLUÍDOS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148000" y="42552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48000" y="4320000"/>
            <a:ext cx="2304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Aquisição de terreno (2008/2009) — a valor de mercado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Licença Prévia emitida 2012 — renovada até mar/2030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Licença de Instalação emitida jan/2024 — válida até jan/2030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Alvará de Construção emitido · Projetos arquitetônicos concluídos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Negociação Fasano concluída — formalização em fase final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148000" y="5292000"/>
            <a:ext cx="2304000" cy="108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48000" y="5364000"/>
            <a:ext cx="2304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PRÓXIMAS ETAPAS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148000" y="5515200"/>
            <a:ext cx="2304000" cy="10800"/>
          </a:xfrm>
          <a:prstGeom prst="rect">
            <a:avLst/>
          </a:prstGeom>
          <a:solidFill>
            <a:srgbClr val="C8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148000" y="5580000"/>
            <a:ext cx="2304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Integralização final do equity — investidor 49%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Estruturação e emissão do CRI (R$ 170MM)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Lançamento Residencial Fase 1 — out/2026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Início obras Hotel + Residencial — out/2026 / abr/2027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00">
                <a:solidFill>
                  <a:srgbClr val="887CD3"/>
                </a:solidFill>
                <a:latin typeface="Calibri"/>
              </a:rPr>
              <a:t>• </a:t>
            </a:r>
            <a:r>
              <a:rPr sz="600">
                <a:solidFill>
                  <a:srgbClr val="FFFFFF"/>
                </a:solidFill>
                <a:latin typeface="Calibri"/>
              </a:rPr>
              <a:t>Abertura Hotel Fasano — jan/2029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148000" y="6552000"/>
            <a:ext cx="2304000" cy="10800"/>
          </a:xfrm>
          <a:prstGeom prst="rect">
            <a:avLst/>
          </a:prstGeom>
          <a:solidFill>
            <a:srgbClr val="887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0" y="9468000"/>
            <a:ext cx="7560000" cy="720000"/>
          </a:xfrm>
          <a:prstGeom prst="rect">
            <a:avLst/>
          </a:prstGeom>
          <a:solidFill>
            <a:srgbClr val="18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8000" y="9504000"/>
            <a:ext cx="2304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GARANTIAS CRI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8000" y="9648000"/>
            <a:ext cx="2304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AF de 100% das cotas das Devedoras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AF terreno Residencial (260.350m²) c/ conversão para AF de unidades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AF terreno Hoteleiro (306.017m²)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Cessão fiduciária de recebíveis do Residencial e das receitas hoteleiras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Aval cruzado das holdings e subholdings do Grupo Prima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28000" y="9504000"/>
            <a:ext cx="2304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MARCOS CONCLUÍDOS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628000" y="9648000"/>
            <a:ext cx="2304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Aquisição de terreno (2008/2009) — a valor de mercado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Licença Prévia emitida 2012 — renovada até mar/2030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Licença de Instalação emitida jan/2024 — válida até jan/2030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Alvará de Construção emitido · Projetos arquitetônicos concluídos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Negociação Fasano concluída — formalização em fase final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148000" y="9504000"/>
            <a:ext cx="2304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Bef>
                <a:spcPts val="0"/>
              </a:spcBef>
              <a:spcAft>
                <a:spcPts val="100"/>
              </a:spcAft>
            </a:pPr>
            <a:r>
              <a:rPr sz="500" b="1">
                <a:solidFill>
                  <a:srgbClr val="C8A96D"/>
                </a:solidFill>
                <a:latin typeface="Calibri"/>
              </a:rPr>
              <a:t>PRÓXIMAS ETAPAS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48000" y="9648000"/>
            <a:ext cx="2304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Integralização final do equity — investidor 49%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Estruturação e emissão do CRI (R$ 170MM)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Lançamento Residencial Fase 1 — out/2026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Início obras Hotel + Residencial — out/2026 / abr/2027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550">
                <a:solidFill>
                  <a:srgbClr val="887CD3"/>
                </a:solidFill>
                <a:latin typeface="Calibri"/>
              </a:rPr>
              <a:t>• </a:t>
            </a:r>
            <a:r>
              <a:rPr sz="550">
                <a:solidFill>
                  <a:srgbClr val="FFFFFF"/>
                </a:solidFill>
                <a:latin typeface="Calibri"/>
              </a:rPr>
              <a:t>Abertura Hotel Fasano — jan/2029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0" y="10188000"/>
            <a:ext cx="7560000" cy="504000"/>
          </a:xfrm>
          <a:prstGeom prst="rect">
            <a:avLst/>
          </a:prstGeom>
          <a:solidFill>
            <a:srgbClr val="20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logo_mb_ib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10260000"/>
            <a:ext cx="792000" cy="3600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80000" y="1026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50">
                <a:solidFill>
                  <a:srgbClr val="7F808F"/>
                </a:solidFill>
                <a:latin typeface="Calibri"/>
              </a:rPr>
              <a:t>Material elaborado pela Monte Bravo Investment Banking para fins informativos. Não constitui oferta ou recomendação de investimento. Destinado exclusivamente a investidores qualificados (Res. CVM 30). Informações baseadas em documentos do Grupo Prima. Investimentos em CRI e participações imobiliárias envolvem riscos. Vedada a reprodução sem autorização prévia.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300000" y="10296000"/>
            <a:ext cx="1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00">
                <a:solidFill>
                  <a:srgbClr val="7F808F"/>
                </a:solidFill>
                <a:latin typeface="Calibri"/>
              </a:rPr>
              <a:t>Versão Indicativa
Março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