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72" cy="1069279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201A47"/>
          </a:solidFill>
          <a:ln>
            <a:solidFill>
              <a:srgbClr val="201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mb_ib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2000"/>
            <a:ext cx="900000" cy="6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000" y="72000"/>
            <a:ext cx="43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96D"/>
                </a:solidFill>
                <a:latin typeface="Calibri"/>
              </a:rPr>
              <a:t>FASANO MAMUCABO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000" y="468000"/>
            <a:ext cx="468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Grupo Prima × Fasano | Oportunidade de Coinvestimento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0" y="252000"/>
            <a:ext cx="16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C8A96D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2000"/>
            <a:ext cx="7560000" cy="108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1872000"/>
            <a:ext cx="7560000" cy="504000"/>
          </a:xfrm>
          <a:prstGeom prst="rect">
            <a:avLst/>
          </a:prstGeom>
          <a:solidFill>
            <a:srgbClr val="201A47"/>
          </a:solidFill>
          <a:ln>
            <a:solidFill>
              <a:srgbClr val="201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1944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Projeto residencial de ultra-luxo desenvolvido pelo Grupo Prima em parceria com a rede hoteleira Fasano, localizado em Mamucabo, litoral sul do Rio de Janeiro.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2376000"/>
            <a:ext cx="7560000" cy="7236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20000" y="2448000"/>
            <a:ext cx="6350" cy="7092000"/>
          </a:xfrm>
          <a:prstGeom prst="rect">
            <a:avLst/>
          </a:prstGeom>
          <a:noFill/>
          <a:ln w="6350">
            <a:solidFill>
              <a:srgbClr val="887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40000" y="2448000"/>
            <a:ext cx="6350" cy="7092000"/>
          </a:xfrm>
          <a:prstGeom prst="rect">
            <a:avLst/>
          </a:prstGeom>
          <a:noFill/>
          <a:ln w="6350">
            <a:solidFill>
              <a:srgbClr val="887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00" y="2484000"/>
            <a:ext cx="235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C8A96D"/>
                </a:solidFill>
                <a:latin typeface="Calibri"/>
              </a:rPr>
              <a:t>O PROJETO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" y="2664000"/>
            <a:ext cx="235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Fasano Mamucabo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" y="2916000"/>
            <a:ext cx="235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Empreendimento residencial de alto padrão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43 unidades residenciais — studios a penthouses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Área privativa: 45m² a 500m²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Serviços hoteleiros Fasano integrados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Localização: Mamucabo, RJ (entre Paraty e Angra)</a:t>
            </a:r>
          </a:p>
        </p:txBody>
      </p:sp>
      <p:pic>
        <p:nvPicPr>
          <p:cNvPr id="16" name="Picture 15" descr="poo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0" y="3924000"/>
            <a:ext cx="1143000" cy="792000"/>
          </a:xfrm>
          <a:prstGeom prst="rect">
            <a:avLst/>
          </a:prstGeom>
        </p:spPr>
      </p:pic>
      <p:pic>
        <p:nvPicPr>
          <p:cNvPr id="17" name="Picture 16" descr="entranc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000" y="3924000"/>
            <a:ext cx="1143000" cy="79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000" y="4824000"/>
            <a:ext cx="235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C8A96D"/>
                </a:solidFill>
                <a:latin typeface="Calibri"/>
              </a:rPr>
              <a:t>GRUPO PRIMA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" y="5004000"/>
            <a:ext cx="2358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Incorporadora com +20 anos de experiência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Portfólio: +R$2Bi em VGV lançado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51% do capital do projeto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AF Terreno Residencial (840.834m²): Outorgado para 4k unidades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AF Terreno Residencial (240.829m²): Outorgado para 4k unidades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AF Terreno Hoteleiro (300.076m²)</a:t>
            </a:r>
          </a:p>
        </p:txBody>
      </p:sp>
      <p:pic>
        <p:nvPicPr>
          <p:cNvPr id="20" name="Picture 19" descr="vill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00" y="6228000"/>
            <a:ext cx="1143000" cy="792000"/>
          </a:xfrm>
          <a:prstGeom prst="rect">
            <a:avLst/>
          </a:prstGeom>
        </p:spPr>
      </p:pic>
      <p:pic>
        <p:nvPicPr>
          <p:cNvPr id="21" name="Picture 20" descr="lobby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7000" y="6228000"/>
            <a:ext cx="1143000" cy="792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74000" y="2484000"/>
            <a:ext cx="241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C8A96D"/>
                </a:solidFill>
                <a:latin typeface="Calibri"/>
              </a:rPr>
              <a:t>FASANO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4000" y="2664000"/>
            <a:ext cx="24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Rede hoteleira de ultra-luxo referência no Brasil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Presente em São Paulo, Rio, Trancoso, Punta del Este, Lisboa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Gestão hoteleira + brand licensing do projeto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49% do capital do projeto</a:t>
            </a:r>
          </a:p>
        </p:txBody>
      </p:sp>
      <p:pic>
        <p:nvPicPr>
          <p:cNvPr id="24" name="Picture 23" descr="room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4000" y="3492000"/>
            <a:ext cx="1170000" cy="792000"/>
          </a:xfrm>
          <a:prstGeom prst="rect">
            <a:avLst/>
          </a:prstGeom>
        </p:spPr>
      </p:pic>
      <p:pic>
        <p:nvPicPr>
          <p:cNvPr id="25" name="Picture 24" descr="aerial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80000" y="3492000"/>
            <a:ext cx="1170000" cy="79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574000" y="4392000"/>
            <a:ext cx="241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C8A96D"/>
                </a:solidFill>
                <a:latin typeface="Calibri"/>
              </a:rPr>
              <a:t>ESTRUTURA CRI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4000" y="4572000"/>
            <a:ext cx="241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201A47"/>
                </a:solidFill>
                <a:latin typeface="Calibri"/>
              </a:rPr>
              <a:t>GARANTIAS CRI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4000" y="4752000"/>
            <a:ext cx="241200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Cessão de 100% das cotas das Devedoras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AF Terreno Residencial (840.834m²): Outorgado para 4k unidades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AF Terreno Hoteleiro (300.076m²)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Cessão fiduciária de recebíveis e das quotas de sociedades hoteleiras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4000" y="2484000"/>
            <a:ext cx="23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C8A96D"/>
                </a:solidFill>
                <a:latin typeface="Calibri"/>
              </a:rPr>
              <a:t>INDICADORES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4000" y="2664000"/>
            <a:ext cx="23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7CD3"/>
                </a:solidFill>
                <a:latin typeface="Calibri"/>
              </a:rPr>
              <a:t>R$ 330Mi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4000" y="2916000"/>
            <a:ext cx="23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F808F"/>
                </a:solidFill>
                <a:latin typeface="Calibri"/>
              </a:rPr>
              <a:t>Captação Total CRI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94000" y="3096000"/>
            <a:ext cx="23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7CD3"/>
                </a:solidFill>
                <a:latin typeface="Calibri"/>
              </a:rPr>
              <a:t>R$ 1,25Bi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4000" y="3348000"/>
            <a:ext cx="23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F808F"/>
                </a:solidFill>
                <a:latin typeface="Calibri"/>
              </a:rPr>
              <a:t>VGV Total do Projeto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4000" y="3528000"/>
            <a:ext cx="23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7CD3"/>
                </a:solidFill>
                <a:latin typeface="Calibri"/>
              </a:rPr>
              <a:t>13,5% a.a.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4000" y="3780000"/>
            <a:ext cx="23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F808F"/>
                </a:solidFill>
                <a:latin typeface="Calibri"/>
              </a:rPr>
              <a:t>Taxa CRI (IPCA+)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94000" y="3960000"/>
            <a:ext cx="23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7CD3"/>
                </a:solidFill>
                <a:latin typeface="Calibri"/>
              </a:rPr>
              <a:t>48 meses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94000" y="4212000"/>
            <a:ext cx="23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F808F"/>
                </a:solidFill>
                <a:latin typeface="Calibri"/>
              </a:rPr>
              <a:t>Prazo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4000" y="4392000"/>
            <a:ext cx="23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7CD3"/>
                </a:solidFill>
                <a:latin typeface="Calibri"/>
              </a:rPr>
              <a:t>Mai/2025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94000" y="4644000"/>
            <a:ext cx="23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F808F"/>
                </a:solidFill>
                <a:latin typeface="Calibri"/>
              </a:rPr>
              <a:t>Emissão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94000" y="4896000"/>
            <a:ext cx="23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C8A96D"/>
                </a:solidFill>
                <a:latin typeface="Calibri"/>
              </a:rPr>
              <a:t>MARCOS CONCLUÍDOS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94000" y="5076000"/>
            <a:ext cx="2376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Aquisição do terreno (2020/2008) — a valor de mercado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Licença Prévia emitida 2012 — renovada até mai/2031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Licença de Instalação emitida jun/2024 — válida até jun/2026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Alvará de Construção emitido — Projetos arquitetônicos concluídos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94000" y="6012000"/>
            <a:ext cx="23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C8A96D"/>
                </a:solidFill>
                <a:latin typeface="Calibri"/>
              </a:rPr>
              <a:t>PRÓXIMAS ETAPAS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94000" y="6192000"/>
            <a:ext cx="237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Integralização final do equity — investidor 4%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Estruturação e emissão do CRI (R$ 330MM)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Lançamento Residencial Fase 1 — out/2025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Início obras Hotel + Residencial — set/2025 / jan/2027</a:t>
            </a:r>
          </a:p>
          <a:p>
            <a:pPr algn="l">
              <a:lnSpc>
                <a:spcPts val="900"/>
              </a:lnSpc>
              <a:spcBef>
                <a:spcPts val="10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•  Abertura Hotel Fasano — jan/2026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9612000"/>
            <a:ext cx="7560000" cy="432000"/>
          </a:xfrm>
          <a:prstGeom prst="rect">
            <a:avLst/>
          </a:prstGeom>
          <a:solidFill>
            <a:srgbClr val="201A47"/>
          </a:solidFill>
          <a:ln>
            <a:solidFill>
              <a:srgbClr val="201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0000" y="9648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  <a:latin typeface="Calibri"/>
              </a:rPr>
              <a:t>Aval cruzado das holdings e subholdings do Grupo Prima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0000" y="964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Negociação Fasano concluída — Formalização em fase final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10044000"/>
            <a:ext cx="7560000" cy="64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logo_mb_ib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10116000"/>
            <a:ext cx="720000" cy="504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36000" y="10116000"/>
            <a:ext cx="55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7F808F"/>
                </a:solidFill>
                <a:latin typeface="Calibri"/>
              </a:rPr>
              <a:t>Material preparado pela Monte Bravo Investimentos para uso exclusivo e confidencial. Este documento não constitui oferta de valores mobiliários. As informações aqui contidas são baseadas em fontes consideradas confiáveis, porém não garantidas. Investimentos envolvem riscos e retornos passados não garantem resultados futuros. Distribuição ou reprodução proibida sem autorização expressa.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8000" y="102600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C8A96D"/>
                </a:solidFill>
                <a:latin typeface="Calibri"/>
              </a:rPr>
              <a:t>montebravo.com.br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